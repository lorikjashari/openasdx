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questions. On our laptop, we took the model, converted it to 8-bit integers so it fits Gemmini's math, and wrote the C program that runs it. Chipyard, Berkeley's open-source chip generator, provides the chip (the Rocket processor and the Gemmini accelerator) and the tools, including FireSim. In AWS's Frankfurt data center, the FireSim manager builds the program, loads the chip onto the FPGA and starts each run. The FPGA becomes the chip and writes the story, and we get the story and the cycle counts 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20040" y="182880"/>
            <a:ext cx="8503920" cy="548640"/>
          </a:xfrm>
          <a:prstGeom prst="rect">
            <a:avLst/>
          </a:prstGeom>
          <a:noFill/>
        </p:spPr>
        <p:txBody>
          <a:bodyPr wrap="none">
            <a:spAutoFit/>
          </a:bodyPr>
          <a:lstStyle/>
          <a:p>
            <a:r>
              <a:rPr sz="2600">
                <a:solidFill>
                  <a:srgbClr val="222222"/>
                </a:solidFill>
                <a:latin typeface="Arial"/>
              </a:rPr>
              <a:t>OpenASDx, end to end</a:t>
            </a:r>
          </a:p>
        </p:txBody>
      </p:sp>
      <p:sp>
        <p:nvSpPr>
          <p:cNvPr id="3" name="Rounded Rectangle 2"/>
          <p:cNvSpPr/>
          <p:nvPr/>
        </p:nvSpPr>
        <p:spPr>
          <a:xfrm>
            <a:off x="274320" y="914400"/>
            <a:ext cx="2514600" cy="3977639"/>
          </a:xfrm>
          <a:prstGeom prst="roundRect">
            <a:avLst>
              <a:gd name="adj" fmla="val 8000"/>
            </a:avLst>
          </a:prstGeom>
          <a:solidFill>
            <a:srgbClr val="F3F8F3"/>
          </a:solidFill>
          <a:ln w="19050">
            <a:solidFill>
              <a:srgbClr val="6AA36F"/>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a:lstStyle/>
          <a:p>
            <a:pPr algn="ctr"/>
            <a:r>
              <a:rPr sz="1400" b="1">
                <a:solidFill>
                  <a:srgbClr val="222222"/>
                </a:solidFill>
                <a:latin typeface="Arial"/>
              </a:rPr>
              <a:t>Our laptop</a:t>
            </a:r>
          </a:p>
        </p:txBody>
      </p:sp>
      <p:sp>
        <p:nvSpPr>
          <p:cNvPr id="4" name="Rounded Rectangle 3"/>
          <p:cNvSpPr/>
          <p:nvPr/>
        </p:nvSpPr>
        <p:spPr>
          <a:xfrm>
            <a:off x="457200" y="1371600"/>
            <a:ext cx="2148840" cy="868680"/>
          </a:xfrm>
          <a:prstGeom prst="roundRect">
            <a:avLst>
              <a:gd name="adj" fmla="val 8000"/>
            </a:avLst>
          </a:prstGeom>
          <a:solidFill>
            <a:srgbClr val="FFFFFF"/>
          </a:solidFill>
          <a:ln w="19050">
            <a:solidFill>
              <a:srgbClr val="6AA36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a:lstStyle/>
          <a:p>
            <a:pPr algn="ctr"/>
            <a:r>
              <a:rPr sz="1400" b="1">
                <a:solidFill>
                  <a:srgbClr val="222222"/>
                </a:solidFill>
                <a:latin typeface="Arial"/>
              </a:rPr>
              <a:t>The model</a:t>
            </a:r>
          </a:p>
          <a:p>
            <a:pPr algn="ctr"/>
            <a:r>
              <a:rPr sz="1100" b="0">
                <a:solidFill>
                  <a:srgbClr val="555555"/>
                </a:solidFill>
                <a:latin typeface="Arial"/>
              </a:rPr>
              <a:t>Stories260K, a tiny storyteller (float)</a:t>
            </a:r>
          </a:p>
        </p:txBody>
      </p:sp>
      <p:sp>
        <p:nvSpPr>
          <p:cNvPr id="5" name="Rounded Rectangle 4"/>
          <p:cNvSpPr/>
          <p:nvPr/>
        </p:nvSpPr>
        <p:spPr>
          <a:xfrm>
            <a:off x="457200" y="2560320"/>
            <a:ext cx="2148840" cy="868680"/>
          </a:xfrm>
          <a:prstGeom prst="roundRect">
            <a:avLst>
              <a:gd name="adj" fmla="val 8000"/>
            </a:avLst>
          </a:prstGeom>
          <a:solidFill>
            <a:srgbClr val="FFFFFF"/>
          </a:solidFill>
          <a:ln w="19050">
            <a:solidFill>
              <a:srgbClr val="6AA36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a:lstStyle/>
          <a:p>
            <a:pPr algn="ctr"/>
            <a:r>
              <a:rPr sz="1400" b="1">
                <a:solidFill>
                  <a:srgbClr val="222222"/>
                </a:solidFill>
                <a:latin typeface="Arial"/>
              </a:rPr>
              <a:t>Quantized to 8-bit</a:t>
            </a:r>
          </a:p>
          <a:p>
            <a:pPr algn="ctr"/>
            <a:r>
              <a:rPr sz="1100" b="0">
                <a:solidFill>
                  <a:srgbClr val="555555"/>
                </a:solidFill>
                <a:latin typeface="Arial"/>
              </a:rPr>
              <a:t>fits the accelerator's integer math (Python)</a:t>
            </a:r>
          </a:p>
        </p:txBody>
      </p:sp>
      <p:sp>
        <p:nvSpPr>
          <p:cNvPr id="6" name="Rounded Rectangle 5"/>
          <p:cNvSpPr/>
          <p:nvPr/>
        </p:nvSpPr>
        <p:spPr>
          <a:xfrm>
            <a:off x="457200" y="3749039"/>
            <a:ext cx="2148840" cy="868680"/>
          </a:xfrm>
          <a:prstGeom prst="roundRect">
            <a:avLst>
              <a:gd name="adj" fmla="val 8000"/>
            </a:avLst>
          </a:prstGeom>
          <a:solidFill>
            <a:srgbClr val="FFFFFF"/>
          </a:solidFill>
          <a:ln w="19050">
            <a:solidFill>
              <a:srgbClr val="6AA36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a:lstStyle/>
          <a:p>
            <a:pPr algn="ctr"/>
            <a:r>
              <a:rPr sz="1400" b="1">
                <a:solidFill>
                  <a:srgbClr val="222222"/>
                </a:solidFill>
                <a:latin typeface="Arial"/>
              </a:rPr>
              <a:t>The program</a:t>
            </a:r>
          </a:p>
          <a:p>
            <a:pPr algn="ctr"/>
            <a:r>
              <a:rPr sz="1100" b="0">
                <a:solidFill>
                  <a:srgbClr val="555555"/>
                </a:solidFill>
                <a:latin typeface="Arial"/>
              </a:rPr>
              <a:t>runs the model in C, sends every multiplication to Gemmini</a:t>
            </a:r>
          </a:p>
        </p:txBody>
      </p:sp>
      <p:cxnSp>
        <p:nvCxnSpPr>
          <p:cNvPr id="7" name="Connector 6"/>
          <p:cNvCxnSpPr/>
          <p:nvPr/>
        </p:nvCxnSpPr>
        <p:spPr>
          <a:xfrm>
            <a:off x="1531620" y="2240280"/>
            <a:ext cx="0" cy="320040"/>
          </a:xfrm>
          <a:prstGeom prst="line">
            <a:avLst/>
          </a:prstGeom>
          <a:ln w="22225">
            <a:solidFill>
              <a:srgbClr val="44444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531620" y="3429000"/>
            <a:ext cx="0" cy="320039"/>
          </a:xfrm>
          <a:prstGeom prst="line">
            <a:avLst/>
          </a:prstGeom>
          <a:ln w="22225">
            <a:solidFill>
              <a:srgbClr val="4444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154680" y="914400"/>
            <a:ext cx="2743200" cy="1188720"/>
          </a:xfrm>
          <a:prstGeom prst="roundRect">
            <a:avLst>
              <a:gd name="adj" fmla="val 8000"/>
            </a:avLst>
          </a:prstGeom>
          <a:solidFill>
            <a:srgbClr val="F5F1FA"/>
          </a:solidFill>
          <a:ln w="19050">
            <a:solidFill>
              <a:srgbClr val="8E6BB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a:lstStyle/>
          <a:p>
            <a:pPr algn="ctr"/>
            <a:r>
              <a:rPr sz="1400" b="1">
                <a:solidFill>
                  <a:srgbClr val="222222"/>
                </a:solidFill>
                <a:latin typeface="Arial"/>
              </a:rPr>
              <a:t>Chipyard (open source)</a:t>
            </a:r>
          </a:p>
          <a:p>
            <a:pPr algn="ctr"/>
            <a:r>
              <a:rPr sz="1100" b="0">
                <a:solidFill>
                  <a:srgbClr val="555555"/>
                </a:solidFill>
                <a:latin typeface="Arial"/>
              </a:rPr>
              <a:t>UC Berkeley's chip generator: the Rocket processor, the Gemmini accelerator, the compiler and FireSim</a:t>
            </a:r>
          </a:p>
        </p:txBody>
      </p:sp>
      <p:sp>
        <p:nvSpPr>
          <p:cNvPr id="10" name="Rounded Rectangle 9"/>
          <p:cNvSpPr/>
          <p:nvPr/>
        </p:nvSpPr>
        <p:spPr>
          <a:xfrm>
            <a:off x="3017520" y="2423160"/>
            <a:ext cx="5852160" cy="2468880"/>
          </a:xfrm>
          <a:prstGeom prst="roundRect">
            <a:avLst>
              <a:gd name="adj" fmla="val 8000"/>
            </a:avLst>
          </a:prstGeom>
          <a:solidFill>
            <a:srgbClr val="F6F6F6"/>
          </a:solidFill>
          <a:ln w="19050">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a:lstStyle/>
          <a:p>
            <a:pPr algn="ctr"/>
            <a:r>
              <a:rPr sz="1400" b="1">
                <a:solidFill>
                  <a:srgbClr val="222222"/>
                </a:solidFill>
                <a:latin typeface="Arial"/>
              </a:rPr>
              <a:t>AWS cloud, Frankfurt</a:t>
            </a:r>
          </a:p>
        </p:txBody>
      </p:sp>
      <p:sp>
        <p:nvSpPr>
          <p:cNvPr id="11" name="Rounded Rectangle 10"/>
          <p:cNvSpPr/>
          <p:nvPr/>
        </p:nvSpPr>
        <p:spPr>
          <a:xfrm>
            <a:off x="3200400" y="2880360"/>
            <a:ext cx="2331720" cy="1783080"/>
          </a:xfrm>
          <a:prstGeom prst="roundRect">
            <a:avLst>
              <a:gd name="adj" fmla="val 8000"/>
            </a:avLst>
          </a:prstGeom>
          <a:solidFill>
            <a:srgbClr val="FFFFFF"/>
          </a:solidFill>
          <a:ln w="19050">
            <a:solidFill>
              <a:srgbClr val="77777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a:lstStyle/>
          <a:p>
            <a:pPr algn="ctr"/>
            <a:r>
              <a:rPr sz="1400" b="1">
                <a:solidFill>
                  <a:srgbClr val="222222"/>
                </a:solidFill>
                <a:latin typeface="Arial"/>
              </a:rPr>
              <a:t>FireSim manager</a:t>
            </a:r>
          </a:p>
          <a:p>
            <a:pPr algn="ctr"/>
            <a:r>
              <a:rPr sz="1100" b="0">
                <a:solidFill>
                  <a:srgbClr val="555555"/>
                </a:solidFill>
                <a:latin typeface="Arial"/>
              </a:rPr>
              <a:t>a cloud computer: builds the program, loads the chip onto the FPGA, starts each run</a:t>
            </a:r>
          </a:p>
        </p:txBody>
      </p:sp>
      <p:sp>
        <p:nvSpPr>
          <p:cNvPr id="12" name="Rounded Rectangle 11"/>
          <p:cNvSpPr/>
          <p:nvPr/>
        </p:nvSpPr>
        <p:spPr>
          <a:xfrm>
            <a:off x="5897880" y="2880360"/>
            <a:ext cx="2788920" cy="1783080"/>
          </a:xfrm>
          <a:prstGeom prst="roundRect">
            <a:avLst>
              <a:gd name="adj" fmla="val 8000"/>
            </a:avLst>
          </a:prstGeom>
          <a:solidFill>
            <a:srgbClr val="EEF4FB"/>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54864"/>
          <a:lstStyle/>
          <a:p>
            <a:pPr algn="ctr"/>
            <a:r>
              <a:rPr sz="1400" b="1">
                <a:solidFill>
                  <a:srgbClr val="222222"/>
                </a:solidFill>
                <a:latin typeface="Arial"/>
              </a:rPr>
              <a:t>FPGA (AWS F2)</a:t>
            </a:r>
          </a:p>
          <a:p>
            <a:pPr algn="ctr"/>
            <a:r>
              <a:rPr sz="1100" b="0">
                <a:solidFill>
                  <a:srgbClr val="555555"/>
                </a:solidFill>
                <a:latin typeface="Arial"/>
              </a:rPr>
              <a:t>rewired to become the chip:</a:t>
            </a:r>
          </a:p>
        </p:txBody>
      </p:sp>
      <p:sp>
        <p:nvSpPr>
          <p:cNvPr id="13" name="Rounded Rectangle 12"/>
          <p:cNvSpPr/>
          <p:nvPr/>
        </p:nvSpPr>
        <p:spPr>
          <a:xfrm>
            <a:off x="6035040" y="3657600"/>
            <a:ext cx="1188720" cy="822960"/>
          </a:xfrm>
          <a:prstGeom prst="roundRect">
            <a:avLst>
              <a:gd name="adj" fmla="val 8000"/>
            </a:avLst>
          </a:prstGeom>
          <a:solidFill>
            <a:srgbClr val="FFFFFF"/>
          </a:solidFill>
          <a:ln w="19050">
            <a:solidFill>
              <a:srgbClr val="D62728"/>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a:lstStyle/>
          <a:p>
            <a:pPr algn="ctr"/>
            <a:r>
              <a:rPr sz="1200" b="1">
                <a:solidFill>
                  <a:srgbClr val="222222"/>
                </a:solidFill>
                <a:latin typeface="Arial"/>
              </a:rPr>
              <a:t>Rocket</a:t>
            </a:r>
          </a:p>
          <a:p>
            <a:pPr algn="ctr"/>
            <a:r>
              <a:rPr sz="1000" b="0">
                <a:solidFill>
                  <a:srgbClr val="555555"/>
                </a:solidFill>
                <a:latin typeface="Arial"/>
              </a:rPr>
              <a:t>RISC-V processor</a:t>
            </a:r>
          </a:p>
        </p:txBody>
      </p:sp>
      <p:sp>
        <p:nvSpPr>
          <p:cNvPr id="14" name="Rounded Rectangle 13"/>
          <p:cNvSpPr/>
          <p:nvPr/>
        </p:nvSpPr>
        <p:spPr>
          <a:xfrm>
            <a:off x="7360920" y="3657600"/>
            <a:ext cx="1188720" cy="822960"/>
          </a:xfrm>
          <a:prstGeom prst="roundRect">
            <a:avLst>
              <a:gd name="adj" fmla="val 8000"/>
            </a:avLst>
          </a:prstGeom>
          <a:solidFill>
            <a:srgbClr val="FFFFFF"/>
          </a:solidFill>
          <a:ln w="1905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a:lstStyle/>
          <a:p>
            <a:pPr algn="ctr"/>
            <a:r>
              <a:rPr sz="1200" b="1">
                <a:solidFill>
                  <a:srgbClr val="222222"/>
                </a:solidFill>
                <a:latin typeface="Arial"/>
              </a:rPr>
              <a:t>Gemmini</a:t>
            </a:r>
          </a:p>
          <a:p>
            <a:pPr algn="ctr"/>
            <a:r>
              <a:rPr sz="1000" b="0">
                <a:solidFill>
                  <a:srgbClr val="555555"/>
                </a:solidFill>
                <a:latin typeface="Arial"/>
              </a:rPr>
              <a:t>16×16 accelerator</a:t>
            </a:r>
          </a:p>
        </p:txBody>
      </p:sp>
      <p:sp>
        <p:nvSpPr>
          <p:cNvPr id="15" name="Rounded Rectangle 14"/>
          <p:cNvSpPr/>
          <p:nvPr/>
        </p:nvSpPr>
        <p:spPr>
          <a:xfrm>
            <a:off x="6263640" y="914400"/>
            <a:ext cx="2606040" cy="1188720"/>
          </a:xfrm>
          <a:prstGeom prst="roundRect">
            <a:avLst>
              <a:gd name="adj" fmla="val 8000"/>
            </a:avLst>
          </a:prstGeom>
          <a:solidFill>
            <a:srgbClr val="FFF8EC"/>
          </a:solidFill>
          <a:ln w="19050">
            <a:solidFill>
              <a:srgbClr val="E08A1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54864"/>
          <a:lstStyle/>
          <a:p>
            <a:pPr algn="ctr"/>
            <a:r>
              <a:rPr sz="1400" b="1">
                <a:solidFill>
                  <a:srgbClr val="222222"/>
                </a:solidFill>
                <a:latin typeface="Arial"/>
              </a:rPr>
              <a:t>The result</a:t>
            </a:r>
          </a:p>
          <a:p>
            <a:pPr algn="ctr"/>
            <a:r>
              <a:rPr sz="1100" b="0">
                <a:solidFill>
                  <a:srgbClr val="555555"/>
                </a:solidFill>
                <a:latin typeface="Arial"/>
              </a:rPr>
              <a:t>the story, word by word, and the cycle counts behind the report</a:t>
            </a:r>
          </a:p>
        </p:txBody>
      </p:sp>
      <p:cxnSp>
        <p:nvCxnSpPr>
          <p:cNvPr id="16" name="Connector 15"/>
          <p:cNvCxnSpPr/>
          <p:nvPr/>
        </p:nvCxnSpPr>
        <p:spPr>
          <a:xfrm flipV="1">
            <a:off x="2606040" y="3931920"/>
            <a:ext cx="594360" cy="251460"/>
          </a:xfrm>
          <a:prstGeom prst="line">
            <a:avLst/>
          </a:prstGeom>
          <a:ln w="22225">
            <a:solidFill>
              <a:srgbClr val="4444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514600" y="4224528"/>
            <a:ext cx="822960" cy="365760"/>
          </a:xfrm>
          <a:prstGeom prst="rect">
            <a:avLst/>
          </a:prstGeom>
          <a:noFill/>
        </p:spPr>
        <p:txBody>
          <a:bodyPr wrap="square">
            <a:spAutoFit/>
          </a:bodyPr>
          <a:lstStyle/>
          <a:p>
            <a:pPr algn="ctr"/>
            <a:r>
              <a:rPr sz="1000" i="1">
                <a:solidFill>
                  <a:srgbClr val="555555"/>
                </a:solidFill>
                <a:latin typeface="Arial"/>
              </a:rPr>
              <a:t>the code</a:t>
            </a:r>
          </a:p>
        </p:txBody>
      </p:sp>
      <p:cxnSp>
        <p:nvCxnSpPr>
          <p:cNvPr id="18" name="Connector 17"/>
          <p:cNvCxnSpPr/>
          <p:nvPr/>
        </p:nvCxnSpPr>
        <p:spPr>
          <a:xfrm flipH="1">
            <a:off x="4389120" y="2103120"/>
            <a:ext cx="137160" cy="777240"/>
          </a:xfrm>
          <a:prstGeom prst="line">
            <a:avLst/>
          </a:prstGeom>
          <a:ln w="22225">
            <a:solidFill>
              <a:srgbClr val="4444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434840" y="2331720"/>
            <a:ext cx="731520" cy="365760"/>
          </a:xfrm>
          <a:prstGeom prst="rect">
            <a:avLst/>
          </a:prstGeom>
          <a:noFill/>
        </p:spPr>
        <p:txBody>
          <a:bodyPr wrap="square">
            <a:spAutoFit/>
          </a:bodyPr>
          <a:lstStyle/>
          <a:p>
            <a:pPr algn="ctr"/>
            <a:r>
              <a:rPr sz="1000" i="1">
                <a:solidFill>
                  <a:srgbClr val="555555"/>
                </a:solidFill>
                <a:latin typeface="Arial"/>
              </a:rPr>
              <a:t>tools</a:t>
            </a:r>
          </a:p>
        </p:txBody>
      </p:sp>
      <p:cxnSp>
        <p:nvCxnSpPr>
          <p:cNvPr id="20" name="Connector 19"/>
          <p:cNvCxnSpPr/>
          <p:nvPr/>
        </p:nvCxnSpPr>
        <p:spPr>
          <a:xfrm>
            <a:off x="5532120" y="3749039"/>
            <a:ext cx="365760" cy="0"/>
          </a:xfrm>
          <a:prstGeom prst="line">
            <a:avLst/>
          </a:prstGeom>
          <a:ln w="22225">
            <a:solidFill>
              <a:srgbClr val="4444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120640" y="3401568"/>
            <a:ext cx="1188720" cy="365760"/>
          </a:xfrm>
          <a:prstGeom prst="rect">
            <a:avLst/>
          </a:prstGeom>
          <a:noFill/>
        </p:spPr>
        <p:txBody>
          <a:bodyPr wrap="square">
            <a:spAutoFit/>
          </a:bodyPr>
          <a:lstStyle/>
          <a:p>
            <a:pPr algn="ctr"/>
            <a:r>
              <a:rPr sz="1000" i="1">
                <a:solidFill>
                  <a:srgbClr val="555555"/>
                </a:solidFill>
                <a:latin typeface="Arial"/>
              </a:rPr>
              <a:t>chip + program</a:t>
            </a:r>
          </a:p>
        </p:txBody>
      </p:sp>
      <p:cxnSp>
        <p:nvCxnSpPr>
          <p:cNvPr id="22" name="Connector 21"/>
          <p:cNvCxnSpPr/>
          <p:nvPr/>
        </p:nvCxnSpPr>
        <p:spPr>
          <a:xfrm flipV="1">
            <a:off x="7287768" y="2103120"/>
            <a:ext cx="118872" cy="777240"/>
          </a:xfrm>
          <a:prstGeom prst="line">
            <a:avLst/>
          </a:prstGeom>
          <a:ln w="22225">
            <a:solidFill>
              <a:srgbClr val="44444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06640" y="2377440"/>
            <a:ext cx="1188720" cy="365760"/>
          </a:xfrm>
          <a:prstGeom prst="rect">
            <a:avLst/>
          </a:prstGeom>
          <a:noFill/>
        </p:spPr>
        <p:txBody>
          <a:bodyPr wrap="square">
            <a:spAutoFit/>
          </a:bodyPr>
          <a:lstStyle/>
          <a:p>
            <a:pPr algn="ctr"/>
            <a:r>
              <a:rPr sz="1000" i="1">
                <a:solidFill>
                  <a:srgbClr val="555555"/>
                </a:solidFill>
                <a:latin typeface="Arial"/>
              </a:rPr>
              <a:t>story, cycles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